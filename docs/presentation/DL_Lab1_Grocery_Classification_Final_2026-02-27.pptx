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Открываю доклад: задача, команда, финальные метрики и структура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Проговариваю маршрут, чтобы преподавателю было понятно, что будет системный разбор.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Здесь важно показать зрелый инженерный подход, а не охоту только за public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Мягко и профессионально фиксирую роли без конфронтации.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Кратко показываю последовательность решений и контрольных точек.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Объясняю архитектуру слоями: данные, обучение, ансамбль, доставка, воспроизводимость.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Поясняю, что рост был ступенчатым и проверяемым, а не случайным.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Это самый важный controlled A/B, после него поменялась вся ветка 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Проговариваю, что финальный конфиг не случайный — он отфильтрован пробами.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Здесь показываю базовый сильный и воспроизводимый anchor-результат.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Поясняю механику mixed-ветки и почему она дала максимум на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На графике видно, что лучший public не всегда лучший private; внимание на attention-сабмит.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Прямо говорю о переоптимизации под public и как это учитывали в выводах.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Коротко фиксирую официальный результат и его место в финальном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Связываю private-shift с групповой структурой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Объясняю, что это не ручная магия, а воспроизводимый data-engineering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Показываю реальный интерфейс из рабочего скрина, что review делался инструментально.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Фиксирую, что интерфейс поддерживает быстрые решения и контроль прогресса по классам.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На цифрах показываю объём и распределение ручной чистки.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Подчёркиваю, что очистка данных была проверена на структурную корректность.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Важный слайд по требованиям: честно фиксирую неудачные ветки и почему они были отбракованы.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Показываю, что преподаватель может повторить пайплайн пошагово.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сек. Коротко фиксирую, где лежат большие артефакты и как проверяется целостность.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сек. Показываю, что дорожная карта улучшений есть и она реалистична.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сек. Финальный слайд: результат, воспроизводимость, и готовность к проверке.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По запросу можно пройти по каждой строке: файл, category, public/private.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Карта скриптов нужна, если преподаватель спросит «что запускать и где».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Дополнительные визуалы по data-cleaning и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DL Lab 1 Grocery Classification: итоговое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530352"/>
            <a:ext cx="1091153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E8F3"/>
                </a:solidFill>
                <a:latin typeface="Calibri"/>
              </a:defRPr>
            </a:pPr>
            <a:r>
              <a:t>Команда: Фёдор Грачёв, Ярослав Кулизнев, Константин Родионов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800" b="1">
                <a:solidFill>
                  <a:srgbClr val="1C2D40"/>
                </a:solidFill>
                <a:latin typeface="Calibri"/>
              </a:defRPr>
            </a:pPr>
            <a:r>
              <a:t>Финальные результаты: public 0.97338 | private 0.95200 (5/17)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1033272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0">
                <a:solidFill>
                  <a:srgbClr val="1C2630"/>
                </a:solidFill>
                <a:latin typeface="Calibri"/>
              </a:defRPr>
            </a:pPr>
            <a:r>
              <a:t>Период: февраль 2026</a:t>
            </a:r>
            <a:br/>
            <a:r>
              <a:t>Соревнование: dl-lab-1-image-classification (15 классов фруктов/овощей)</a:t>
            </a:r>
            <a:br/>
            <a:br/>
            <a:r>
              <a:t>В презентации: путь от базового пайплайна до финального mixed old+new решения,</a:t>
            </a:r>
            <a:br/>
            <a:r>
              <a:t>что реально сработало, что не сработало, и как это воспроизвести из репозитория.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План доклада (~10 минут)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Контекст задачи, ограничения и роли в команде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Эволюция решения: baseline -&gt; CV5 hedge -&gt; mixed old+new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Ключевые эксперименты: что улучшило и что ухудшило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Tinder-style data cleaning и подтверждение эффекта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Public/private сдвиг и финальный private результат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Репозиторий и пошаговая воспроизводимость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Идеи на post-deadline улучшения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Постановка задачи и ограничения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669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502920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15 классов, target: точная классификация grocery-изображений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Основная метрика соревнования: leaderboard score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Жёсткий дедлайн и распределённое обучение на MPS/CUDA/Colab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Тестовый набор не меняли, все изменения только в train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Дополнительный риск: public/private domain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463040"/>
            <a:ext cx="4572000" cy="4389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0">
                <a:solidFill>
                  <a:srgbClr val="1C2630"/>
                </a:solidFill>
                <a:latin typeface="Calibri"/>
              </a:defRPr>
            </a:pPr>
            <a:r>
              <a:t>Рабочая цель:</a:t>
            </a:r>
            <a:br/>
            <a:r>
              <a:t>получить максимум качества без потери воспроизводимости.</a:t>
            </a:r>
            <a:br/>
            <a:br/>
            <a:r>
              <a:t>Поэтому финальное решение выбирали не по одному числу public LB,</a:t>
            </a:r>
            <a:br/>
            <a:r>
              <a:t>а по совокупности:</a:t>
            </a:r>
            <a:br/>
            <a:r>
              <a:t>• OOF-метрики</a:t>
            </a:r>
            <a:br/>
            <a:r>
              <a:t>• controlled A/B</a:t>
            </a:r>
            <a:br/>
            <a:r>
              <a:t>• устойчивость к сдвигу</a:t>
            </a:r>
            <a:br/>
            <a:r>
              <a:t>• инженерная повторяемость пайплайна.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Командный вклад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Фёдор Грачёв: основной экспериментальный и интеграционный контур, ключевые тренировочные циклы, финальная сборка, репозиторий и презентационные материалы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Ярослав Кулизнев: активная генерация и обсуждение гипотез, проверка альтернативных направлений улучшения пайплайна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Константин Родионов: практическая работа с данными и участие в запусках/сопровождении обучения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Роли пересекались, но финальный релиз собран в едином воспроизводимом контуре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Хронология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556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meline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71421"/>
            <a:ext cx="10698480" cy="23264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45920"/>
            <a:ext cx="10698480" cy="237744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424160" cy="1554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От baseline-ансамбля -&gt; к full CV5 hedge -&gt; к data-cleaning -&gt; к mixed old+new финалу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После публикации private: подтверждён итог 0.95200 и rank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Архитектура итогового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lu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33446"/>
            <a:ext cx="10698480" cy="39568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463040"/>
            <a:ext cx="10698480" cy="429768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Эволюция ансамбля: от baseline к сильному стеку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ensemble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2066"/>
            <a:ext cx="7132320" cy="36510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417320"/>
            <a:ext cx="7132320" cy="448056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00200"/>
            <a:ext cx="3154680" cy="4389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Быстрые приросты: weight search + class-bias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Pair-experts дал локальный плюс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Meta-ветки усилили OOF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Финал: late-stage mixed old+new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Ключевой A/B: color-aug vs no_color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color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86827"/>
            <a:ext cx="7132320" cy="39415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371600"/>
            <a:ext cx="7132320" cy="457200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2004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ΔACC: +0.00917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ΔF1-macro: +0.00731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no_color стал базой для следующих циклов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Вывод: агрессивный color-jitter вредил классовой семантике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Phase1 probes: что закрепили в дедлайн-конфиге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577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9204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SWA on, ранний старт swa_start_epoch=5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SAM on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label_smoothing=0.03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weighted sampler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mixup + cutmix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no_color augmentation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45720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700" b="0">
                <a:solidFill>
                  <a:srgbClr val="1C2630"/>
                </a:solidFill>
                <a:latin typeface="Calibri"/>
              </a:defRPr>
            </a:pPr>
            <a:r>
              <a:t>One-fold probes подтвердили, что комбинация SAM+SWA+LS=0.03 даёт лучший устойчивый баланс.</a:t>
            </a:r>
            <a:br/>
            <a:br/>
            <a:r>
              <a:t>Также отсекли ветки, где отключение SAM/SWA ухудшало метрики.</a:t>
            </a:r>
            <a:br/>
            <a:br/>
            <a:r>
              <a:t>Итог: дедлайн-конфиг опирался только на подтверждённые изменения.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Full CV5 stable hedge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20 запусков: 4 модели x 5 фолдов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Внутри фолда: LinearRegression(MSE), positive convex weights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TTA: geo8, fold aggregation: equal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Стабильный результат: submission_cv5_all20_lr_geo8_equal.csv -&gt; 0.97154 public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Этот хедж использовали как контрольную устойчивую точку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Late-stage mixed old+new: идея и реализация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5778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892040" cy="4663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Смешение pre-clean old zoo и post-clean new zoo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Выравнивание OOF по image_id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Blending: mixed_lr_mse и mixed_cwr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Генерация через mixed_old_new_orchestrator_submit.py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Ключевой выигрыш пришёл из diversity двух пулов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45720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0">
                <a:solidFill>
                  <a:srgbClr val="1C2630"/>
                </a:solidFill>
                <a:latin typeface="Calibri"/>
              </a:defRPr>
            </a:pPr>
            <a:r>
              <a:t>Best deadline submission:</a:t>
            </a:r>
            <a:br/>
            <a:r>
              <a:t>submission_mixed_lr_mse_geo8_oof_acc.csv</a:t>
            </a:r>
            <a:br/>
            <a:br/>
            <a:r>
              <a:t>Public: 0.97338</a:t>
            </a:r>
            <a:br/>
            <a:r>
              <a:t>Private: 0.94675</a:t>
            </a:r>
            <a:br/>
            <a:br/>
            <a:r>
              <a:t>LR(MSE) оказался надёжнее CWR в итоговом публичном отборе.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Public vs Private по ключевым сабмитам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lic_private_key_sub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63437"/>
            <a:ext cx="10698480" cy="37883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417320"/>
            <a:ext cx="10698480" cy="448056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Анализ public-private сдвига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lic_privat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0067"/>
            <a:ext cx="7498079" cy="26550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417320"/>
            <a:ext cx="7498079" cy="448056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292608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Сильный negative shift у mixed LR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Лучший private у attention ensemble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Итоговая стратегия: держать стабильный CV5-хедж как противовес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Private фиксирует риск переоптимизации под public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Официальный private итог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C2D40"/>
                </a:solidFill>
                <a:latin typeface="Calibri"/>
              </a:defRPr>
            </a:pPr>
            <a:r>
              <a:t>Команда «батчсайз не влез»: private score 0.95200, rank 5/17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0332720" cy="3017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Данные зафиксированы после публикации private leaderboard (2026-02-27)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Финальный репозиторий дополнен post-competition анализом и таблицами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Сильная сторона решения: воспроизводимость всех ключевых этапов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Risk profile: почему смотрели не только на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ris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7132320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417320"/>
            <a:ext cx="7132320" cy="448056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91640"/>
            <a:ext cx="310896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На IID holdout всё выглядит лучше, чем на group-holdout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Риск концентрируется в некоторых группах (`plu`)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C2630"/>
                </a:solidFill>
                <a:latin typeface="Calibri"/>
              </a:defRPr>
            </a:pPr>
            <a:r>
              <a:t>• Это объясняет часть private-просадки у агрессивных late-stage стратегий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Tinder-style cleaning: зачем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669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9377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Локальный web UI с быстрыми решениями: keep / relabel / trash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Есть undo и экспорт действий в replay-совместимый формат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Авто-применение действий к top_new_dataset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Пост-валидация целостности датасета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Полные логи и CSV-артефакты сохранены в репозитории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r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26321"/>
            <a:ext cx="4754880" cy="117111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508760"/>
            <a:ext cx="4754880" cy="420624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Tinder UI: рабочий интерфейс (live screenshot)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nder_ui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371600"/>
            <a:ext cx="731520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371600"/>
            <a:ext cx="10698480" cy="457200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Tinder UI: модальное решение и работа по классам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5440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097280"/>
            <a:ext cx="5440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nder_ui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4535"/>
            <a:ext cx="5029200" cy="31432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" y="1417320"/>
            <a:ext cx="5029200" cy="429768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nder_ui_class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94535"/>
            <a:ext cx="5029200" cy="3143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46520" y="1417320"/>
            <a:ext cx="5029200" cy="429768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200" b="0">
                <a:solidFill>
                  <a:srgbClr val="5B6771"/>
                </a:solidFill>
                <a:latin typeface="Calibri"/>
              </a:defRPr>
            </a:pPr>
            <a:r>
              <a:t>Modal: trash / relabel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71500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200" b="0">
                <a:solidFill>
                  <a:srgbClr val="5B6771"/>
                </a:solidFill>
                <a:latin typeface="Calibri"/>
              </a:defRPr>
            </a:pPr>
            <a:r>
              <a:t>Class switch + progress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Результат ручной чистки: количественный срез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36576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nder_action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15" y="1463040"/>
            <a:ext cx="2430409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1463040"/>
            <a:ext cx="3291840" cy="256032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200400" cy="1920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C2630"/>
                </a:solidFill>
                <a:latin typeface="Calibri"/>
              </a:defRPr>
            </a:pPr>
            <a:r>
              <a:t>• Всего reviewed: 9889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C2630"/>
                </a:solidFill>
                <a:latin typeface="Calibri"/>
              </a:defRPr>
            </a:pPr>
            <a:r>
              <a:t>• keep: 9696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C2630"/>
                </a:solidFill>
                <a:latin typeface="Calibri"/>
              </a:defRPr>
            </a:pPr>
            <a:r>
              <a:t>• relabel: 139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C2630"/>
                </a:solidFill>
                <a:latin typeface="Calibri"/>
              </a:defRPr>
            </a:pPr>
            <a:r>
              <a:t>• trash: 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97280"/>
            <a:ext cx="72694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nder_actions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27616"/>
            <a:ext cx="6720840" cy="25514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63440" y="1417320"/>
            <a:ext cx="6720840" cy="457200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Проверка целостности после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top_new_dataset/train.csv: 9835 строк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Активных изображений на диске: 9835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1:1 соответствие CSV и файловой структуры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mismatch label vs folder: 0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duplicate image_id: 0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Все действия сохранились в artifacts/manual_review/*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Что ухудшало или не дало прироста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4241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1C2630"/>
                </a:solidFill>
                <a:latin typeface="Calibri"/>
              </a:defRPr>
            </a:pPr>
            <a:r>
              <a:t>• Сильные color-aug: подтверждённая деградация по ACC/F1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1C2630"/>
                </a:solidFill>
                <a:latin typeface="Calibri"/>
              </a:defRPr>
            </a:pPr>
            <a:r>
              <a:t>• Stage4 confidence-aware finetune (текущая реализация): прирост не подтверждён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1C2630"/>
                </a:solidFill>
                <a:latin typeface="Calibri"/>
              </a:defRPr>
            </a:pPr>
            <a:r>
              <a:t>• mixed CWR как финальный public-сабмит: хуже mixed LR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1C2630"/>
                </a:solidFill>
                <a:latin typeface="Calibri"/>
              </a:defRPr>
            </a:pPr>
            <a:r>
              <a:t>• Pair-experts поверх лучшего mixed LR: не добавил прироста к 0.97338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1C2630"/>
                </a:solidFill>
                <a:latin typeface="Calibri"/>
              </a:defRPr>
            </a:pPr>
            <a:r>
              <a:t>• Partial final3 default ensemble: smoke-результат, не боевой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Воспроизводимость: что есть в репозитории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5778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84632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docs/EXPERIMENTS_RU.md — полный экспериментальный срез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docs/REPRODUCIBILITY_RU.md — сценарии воспроизведения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repro/README.md + 3 скрипта быстрого маршрута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artifacts/submissions/* — финальные CSV и реестр оценок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C2630"/>
                </a:solidFill>
                <a:latin typeface="Calibri"/>
              </a:defRPr>
            </a:pPr>
            <a:r>
              <a:t>• artifacts/manual_review/* — все логи Tinder-cleaning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08760"/>
            <a:ext cx="466344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600" b="0">
                <a:solidFill>
                  <a:srgbClr val="1C2630"/>
                </a:solidFill>
                <a:latin typeface="Calibri"/>
              </a:defRPr>
            </a:pPr>
            <a:r>
              <a:t>Быстрый путь:</a:t>
            </a:r>
            <a:br/>
            <a:r>
              <a:t>1) pip install -r requirements_common_team_train.txt</a:t>
            </a:r>
            <a:br/>
            <a:r>
              <a:t>2) bash repro/scripts/01_check_layout.sh</a:t>
            </a:r>
            <a:br/>
            <a:r>
              <a:t>3) bash repro/scripts/02_reproduce_full_cv5_submission.sh</a:t>
            </a:r>
            <a:br/>
            <a:r>
              <a:t>4) bash repro/scripts/03_reproduce_best_mixed_submission.sh</a:t>
            </a:r>
            <a:br/>
            <a:br/>
            <a:r>
              <a:t>Веса и бандлы вынесены в Google Drive, ссылки и SHA256 в weights/README.md.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Внешние артефакты (Google Drive)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700" b="0">
                <a:solidFill>
                  <a:srgbClr val="1C2630"/>
                </a:solidFill>
                <a:latin typeface="Calibri"/>
              </a:defRPr>
            </a:pPr>
            <a:r>
              <a:t>Опубликованы архивы для воспроизведения:</a:t>
            </a:r>
            <a:br/>
            <a:br/>
            <a:r>
              <a:t>• team_bundle_top_new_tinder_plus_ckpts_2026-02-26_v1.zip (4.74 GB)</a:t>
            </a:r>
            <a:br/>
            <a:r>
              <a:t>• team_final3_cv5_split_bundle_2026-02-26_v1.zip (724.57 MB)</a:t>
            </a:r>
            <a:br/>
            <a:r>
              <a:t>• convnext_small_deadline14f4_weights_f0f1_2026-02-26.zip (755.31 MB)</a:t>
            </a:r>
            <a:br/>
            <a:br/>
            <a:r>
              <a:t>Папка: https://drive.google.com/open?id=1Jgb1xTOhgvdicsL0oPyxplWl9yIP98-b</a:t>
            </a:r>
            <a:br/>
            <a:r>
              <a:t>Все ссылки и SHA256 доступны в weights/README.md и repro/upload_manifest_google_drive.json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Идеи улучшения после дедлайна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4241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Расширить diversity для mixed LR (новые независимые источники вероятностей)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Полноценно перепроверить CWR/attention на полном покрытии фолдов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CatBoost meta на честном OOF без утечек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Group-aware отбор финального сабмита (по worst-group риску)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High-resolution stage-2 fine-tune (320/384) для fine-grained классов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Refit pair-experts в новом data regime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Итоги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Сильный результат достигнут комбинацией data cleaning + устойчивого тренинга + ансамблирования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Ключевые решения подтверждены controlled A/B и Kaggle-проверками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Финальный репозиторий и артефакты готовы для воспроизведения и проверки преподавателем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000">
                <a:solidFill>
                  <a:srgbClr val="1C2630"/>
                </a:solidFill>
                <a:latin typeface="Calibri"/>
              </a:defRPr>
            </a:pPr>
            <a:r>
              <a:t>• Официальный private итог: 0.95200 (rank 5/17)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103327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200" b="0">
                <a:solidFill>
                  <a:srgbClr val="5B6771"/>
                </a:solidFill>
                <a:latin typeface="Calibri"/>
              </a:defRPr>
            </a:pPr>
            <a:r>
              <a:t>Репозиторий: https://github.com/HVGrach/dl-lab1-grocery-classification-solution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Backup: таблица ключевых сабмитов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645920"/>
                <a:gridCol w="1645920"/>
                <a:gridCol w="33832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Submission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submission_mixed_lr_mse_geo8_oof_acc.csv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0.97338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mixed_old_new_lr_mse_best_public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submission_mixed_lr_mse_geo8_equal.csv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0.97338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0.94675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mixed_old_new_lr_mse_equal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submission_mixed_lr_mse_geo8_oof_acc_pairexp_aggr1.csv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0.97338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mixed_lr_plus_pair_experts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submission_mixed_lr_mse_geo8_oof_acc_pairexp_aggr2.csv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0.97338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0.94892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mixed_lr_plus_pair_experts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submission_cv5_all20_lr_geo8_equal.csv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0.97154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full_cv5_stable_hedge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submission_mixed_cwr_geo8_oof_acc.csv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0.96972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0.94878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mixed_old_new_cwr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submission_meta_cwr_geo8_oof_acc.csv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0.96904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0.94745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meta_cwr_partial_common01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attention_ensemble_submission.csv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0.96798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0.95515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630"/>
                          </a:solidFill>
                        </a:defRPr>
                      </a:pPr>
                      <a:r>
                        <a:t>best_private_among_submissions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Backup: карта основных скриптов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42416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dl_lab1/scripts/mixed_old_new_orchestrator_submit.py — late-stage mixed сабмиты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dl_lab1/scripts/top_new_final3_cv5_train_orchestrator.py — split-training дедлайн-контура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dl_lab1/scripts/adaptive_top_new_night_pipeline.py — phase1 probes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dl_lab1/scripts/dataset_tinder_review_app.py — интерфейс ручной чистки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1C2630"/>
                </a:solidFill>
                <a:latin typeface="Calibri"/>
              </a:defRPr>
            </a:pPr>
            <a:r>
              <a:t>• repro/scripts/0*.sh — быстрый маршрут воспроизведения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3816"/>
            <a:ext cx="12191695" cy="54864"/>
          </a:xfrm>
          <a:prstGeom prst="rect">
            <a:avLst/>
          </a:prstGeom>
          <a:solidFill>
            <a:srgbClr val="D9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9115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Backup: reference screenshots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65392"/>
            <a:ext cx="11551615" cy="9144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771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5440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097280"/>
            <a:ext cx="5440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eaning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8785"/>
            <a:ext cx="5074920" cy="380619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1417320"/>
            <a:ext cx="5074920" cy="438912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ug_debu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804" y="1417320"/>
            <a:ext cx="4905487" cy="4389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19088" y="1417320"/>
            <a:ext cx="5074920" cy="4389120"/>
          </a:xfrm>
          <a:prstGeom prst="roundRect">
            <a:avLst/>
          </a:prstGeom>
          <a:noFill/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45720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100" b="0">
                <a:solidFill>
                  <a:srgbClr val="5B6771"/>
                </a:solidFill>
                <a:latin typeface="Calibri"/>
              </a:defRPr>
            </a:pPr>
            <a:r>
              <a:t>cleaning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69280"/>
            <a:ext cx="45720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100" b="0">
                <a:solidFill>
                  <a:srgbClr val="5B6771"/>
                </a:solidFill>
                <a:latin typeface="Calibri"/>
              </a:defRPr>
            </a:pPr>
            <a:r>
              <a:t>augmentation debug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